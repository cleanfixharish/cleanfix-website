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93923913d441a8" /><Relationship Type="http://schemas.openxmlformats.org/officeDocument/2006/relationships/extended-properties" Target="/docProps/app.xml" Id="R4d4ac678fe7c4809" /><Relationship Type="http://schemas.openxmlformats.org/officeDocument/2006/relationships/officeDocument" Target="/ppt/presentation.xml" Id="R6dbd950d354142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3e0701642b4793"/>
  </p:sldMasterIdLst>
  <p:notesMasterIdLst>
    <p:notesMasterId xmlns:r="http://schemas.openxmlformats.org/officeDocument/2006/relationships" r:id="Rb453cc3fffe941a2"/>
  </p:notesMasterIdLst>
  <p:sldIdLst>
    <p:sldId xmlns:r="http://schemas.openxmlformats.org/officeDocument/2006/relationships" id="256" r:id="Rc8e69378cc144f20"/>
    <p:sldId xmlns:r="http://schemas.openxmlformats.org/officeDocument/2006/relationships" id="257" r:id="R8acbbeeb51e74d28"/>
    <p:sldId xmlns:r="http://schemas.openxmlformats.org/officeDocument/2006/relationships" id="258" r:id="R3a7fa70c27de48d2"/>
    <p:sldId xmlns:r="http://schemas.openxmlformats.org/officeDocument/2006/relationships" id="259" r:id="R107129043f474bd5"/>
    <p:sldId xmlns:r="http://schemas.openxmlformats.org/officeDocument/2006/relationships" id="260" r:id="Ra3656b6881ca4a7b"/>
    <p:sldId xmlns:r="http://schemas.openxmlformats.org/officeDocument/2006/relationships" id="261" r:id="R4bb1ef9e430d4f63"/>
    <p:sldId xmlns:r="http://schemas.openxmlformats.org/officeDocument/2006/relationships" id="262" r:id="Rf28bc008c18349a9"/>
    <p:sldId xmlns:r="http://schemas.openxmlformats.org/officeDocument/2006/relationships" id="263" r:id="R3a9ad8fae2e94a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5ca23b3b3843cf" /><Relationship Type="http://schemas.openxmlformats.org/officeDocument/2006/relationships/slideMaster" Target="/ppt/slideMasters/slideMaster1.xml" Id="R583e0701642b4793" /><Relationship Type="http://schemas.openxmlformats.org/officeDocument/2006/relationships/notesMaster" Target="/ppt/notesMasters/notesMaster1.xml" Id="Rb453cc3fffe941a2" /><Relationship Type="http://schemas.openxmlformats.org/officeDocument/2006/relationships/presProps" Target="/ppt/presProps.xml" Id="Ra6f765291b9841d0" /><Relationship Type="http://schemas.openxmlformats.org/officeDocument/2006/relationships/tableStyles" Target="/ppt/tableStyles.xml" Id="Ra0c4799946d2454e" /><Relationship Type="http://schemas.openxmlformats.org/officeDocument/2006/relationships/slide" Target="/ppt/slides/slide1.xml" Id="Rc8e69378cc144f20" /><Relationship Type="http://schemas.openxmlformats.org/officeDocument/2006/relationships/slide" Target="/ppt/slides/slide2.xml" Id="R8acbbeeb51e74d28" /><Relationship Type="http://schemas.openxmlformats.org/officeDocument/2006/relationships/slide" Target="/ppt/slides/slide3.xml" Id="R3a7fa70c27de48d2" /><Relationship Type="http://schemas.openxmlformats.org/officeDocument/2006/relationships/slide" Target="/ppt/slides/slide4.xml" Id="R107129043f474bd5" /><Relationship Type="http://schemas.openxmlformats.org/officeDocument/2006/relationships/slide" Target="/ppt/slides/slide5.xml" Id="Ra3656b6881ca4a7b" /><Relationship Type="http://schemas.openxmlformats.org/officeDocument/2006/relationships/slide" Target="/ppt/slides/slide6.xml" Id="R4bb1ef9e430d4f63" /><Relationship Type="http://schemas.openxmlformats.org/officeDocument/2006/relationships/slide" Target="/ppt/slides/slide7.xml" Id="Rf28bc008c18349a9" /><Relationship Type="http://schemas.openxmlformats.org/officeDocument/2006/relationships/slide" Target="/ppt/slides/slide8.xml" Id="R3a9ad8fae2e94a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d6bfc610be4d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010213743042bc" /><Relationship Type="http://schemas.openxmlformats.org/officeDocument/2006/relationships/notesMaster" Target="/ppt/notesMasters/notesMaster1.xml" Id="R01c90be4399544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3b2df3ba5d4a8b" /><Relationship Type="http://schemas.openxmlformats.org/officeDocument/2006/relationships/notesMaster" Target="/ppt/notesMasters/notesMaster1.xml" Id="Refc02277edbb4a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03f413933e4e93" /><Relationship Type="http://schemas.openxmlformats.org/officeDocument/2006/relationships/notesMaster" Target="/ppt/notesMasters/notesMaster1.xml" Id="R7aa7d2f03c2f46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ce87d3c9ed49cf" /><Relationship Type="http://schemas.openxmlformats.org/officeDocument/2006/relationships/notesMaster" Target="/ppt/notesMasters/notesMaster1.xml" Id="R5ff4fa50475f40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aab56d15914930" /><Relationship Type="http://schemas.openxmlformats.org/officeDocument/2006/relationships/notesMaster" Target="/ppt/notesMasters/notesMaster1.xml" Id="Rbab56633ed0149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5e1f3e489e4728" /><Relationship Type="http://schemas.openxmlformats.org/officeDocument/2006/relationships/notesMaster" Target="/ppt/notesMasters/notesMaster1.xml" Id="R5d6d65a1c18142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752b4b462744d7" /><Relationship Type="http://schemas.openxmlformats.org/officeDocument/2006/relationships/notesMaster" Target="/ppt/notesMasters/notesMaster1.xml" Id="R1200483bd76f4a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374ee1439c4ab6" /><Relationship Type="http://schemas.openxmlformats.org/officeDocument/2006/relationships/notesMaster" Target="/ppt/notesMasters/notesMaster1.xml" Id="R916e3f9b1d7c4b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CleanFixHarish repository and product brief (user-owned, accessed 2026-08-23).</a:t>
            </a:r>
          </a:p>
          <a:p xmlns:a="http://schemas.openxmlformats.org/drawingml/2006/main">
            <a:r>
              <a:t>- Visuals: user-approved CleanFixHarish assets and OpenAI-generated documentary images created for this project.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CleanFixHarish repository and product brief (user-owned, accessed 2026-08-23).</a:t>
            </a:r>
          </a:p>
          <a:p xmlns:a="http://schemas.openxmlformats.org/drawingml/2006/main">
            <a:r>
              <a:t>- Visuals: user-approved CleanFixHarish assets and OpenAI-generated documentary images created for this project.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CleanFixHarish repository and product brief (user-owned, accessed 2026-08-23).</a:t>
            </a:r>
          </a:p>
          <a:p xmlns:a="http://schemas.openxmlformats.org/drawingml/2006/main">
            <a:r>
              <a:t>- Visuals: user-approved CleanFixHarish assets and OpenAI-generated documentary images created for this project.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CleanFixHarish repository and product brief (user-owned, accessed 2026-08-23).</a:t>
            </a:r>
          </a:p>
          <a:p xmlns:a="http://schemas.openxmlformats.org/drawingml/2006/main">
            <a:r>
              <a:t>- Visuals: user-approved CleanFixHarish assets and OpenAI-generated documentary images created for this project.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CleanFixHarish repository and product brief (user-owned, accessed 2026-08-23).</a:t>
            </a:r>
          </a:p>
          <a:p xmlns:a="http://schemas.openxmlformats.org/drawingml/2006/main">
            <a:r>
              <a:t>- Visuals: user-approved CleanFixHarish assets and OpenAI-generated documentary images created for this project.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CleanFixHarish repository and product brief (user-owned, accessed 2026-08-23).</a:t>
            </a:r>
          </a:p>
          <a:p xmlns:a="http://schemas.openxmlformats.org/drawingml/2006/main">
            <a:r>
              <a:t>- Visuals: user-approved CleanFixHarish assets and OpenAI-generated documentary images created for this project.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Capabilities shown describe the product direction and implemented administrative/public-site foundations; they are not a claim of autonomous operation.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CleanFixHarish repository and product brief (user-owned, accessed 2026-08-23).</a:t>
            </a:r>
          </a:p>
          <a:p xmlns:a="http://schemas.openxmlformats.org/drawingml/2006/main">
            <a:r>
              <a:t>- Visuals: user-approved CleanFixHarish assets and OpenAI-generated documentary images created for this project.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CleanFixHarish repository and product brief (user-owned, accessed 2026-08-23).</a:t>
            </a:r>
          </a:p>
          <a:p xmlns:a="http://schemas.openxmlformats.org/drawingml/2006/main">
            <a:r>
              <a:t>- Visuals: user-approved CleanFixHarish assets and OpenAI-generated documentary images created for this project.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a9eb57a304b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ba103ac5de4ba0" /><Relationship Type="http://schemas.openxmlformats.org/officeDocument/2006/relationships/slideLayout" Target="/ppt/slideLayouts/slideLayout1.xml" Id="Rfe23ebe77b4541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23ebe77b4541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2a6348155446b" /><Relationship Type="http://schemas.openxmlformats.org/officeDocument/2006/relationships/image" Target="/ppt/media/image.png" Id="R719768eb3cad4323" /><Relationship Type="http://schemas.openxmlformats.org/officeDocument/2006/relationships/image" Target="/ppt/media/image2.png" Id="Rceea7e4830fe451d" /><Relationship Type="http://schemas.openxmlformats.org/officeDocument/2006/relationships/notesSlide" Target="/ppt/notesSlides/notesSlide1.xml" Id="R5cc7f03905484f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f3193066643bd" /><Relationship Type="http://schemas.openxmlformats.org/officeDocument/2006/relationships/image" Target="/ppt/media/image3.png" Id="R4d57993e23224330" /><Relationship Type="http://schemas.openxmlformats.org/officeDocument/2006/relationships/notesSlide" Target="/ppt/notesSlides/notesSlide2.xml" Id="Rbadc5971f1e145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db3bb6e444ef0" /><Relationship Type="http://schemas.openxmlformats.org/officeDocument/2006/relationships/image" Target="/ppt/media/image4.png" Id="R9c38b9d799e844a7" /><Relationship Type="http://schemas.openxmlformats.org/officeDocument/2006/relationships/notesSlide" Target="/ppt/notesSlides/notesSlide3.xml" Id="Rdbea927b2dbe42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ae6f245c64a90" /><Relationship Type="http://schemas.openxmlformats.org/officeDocument/2006/relationships/image" Target="/ppt/media/image5.png" Id="R0c6254b5b2254c48" /><Relationship Type="http://schemas.openxmlformats.org/officeDocument/2006/relationships/notesSlide" Target="/ppt/notesSlides/notesSlide4.xml" Id="Raa901225b9cb4d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f62d63a764088" /><Relationship Type="http://schemas.openxmlformats.org/officeDocument/2006/relationships/image" Target="/ppt/media/image6.png" Id="R6608813363e84e4f" /><Relationship Type="http://schemas.openxmlformats.org/officeDocument/2006/relationships/image" Target="/ppt/media/image7.png" Id="Ra8ebdc796fe5449e" /><Relationship Type="http://schemas.openxmlformats.org/officeDocument/2006/relationships/image" Target="/ppt/media/image8.png" Id="R89dffd11ecb640b3" /><Relationship Type="http://schemas.openxmlformats.org/officeDocument/2006/relationships/image" Target="/ppt/media/image9.png" Id="R86f7807b597d4391" /><Relationship Type="http://schemas.openxmlformats.org/officeDocument/2006/relationships/notesSlide" Target="/ppt/notesSlides/notesSlide5.xml" Id="Rd93d4cfb7ab34c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dea2b063640e4" /><Relationship Type="http://schemas.openxmlformats.org/officeDocument/2006/relationships/image" Target="/ppt/media/image.jpeg" Id="R9e02ada06d734961" /><Relationship Type="http://schemas.openxmlformats.org/officeDocument/2006/relationships/notesSlide" Target="/ppt/notesSlides/notesSlide6.xml" Id="R7bf07469cc114e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1e189ca234600" /><Relationship Type="http://schemas.openxmlformats.org/officeDocument/2006/relationships/image" Target="/ppt/media/image10.png" Id="Rcb043cafa1da47e8" /><Relationship Type="http://schemas.openxmlformats.org/officeDocument/2006/relationships/notesSlide" Target="/ppt/notesSlides/notesSlide7.xml" Id="R081d762567d543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3b65d381a4de4" /><Relationship Type="http://schemas.openxmlformats.org/officeDocument/2006/relationships/image" Target="/ppt/media/image11.png" Id="Rd4e78c8e33594a3f" /><Relationship Type="http://schemas.openxmlformats.org/officeDocument/2006/relationships/image" Target="/ppt/media/image12.png" Id="R407fc03a52a14b08" /><Relationship Type="http://schemas.openxmlformats.org/officeDocument/2006/relationships/notesSlide" Target="/ppt/notesSlides/notesSlide8.xml" Id="Rc2817c90dafc45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768eb3cad432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71E0D-A53D-4519-A852-52841A42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F28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a7e4830fe451d"/>
          <a:stretch xmlns:a="http://schemas.openxmlformats.org/drawingml/2006/main"/>
        </p:blipFill>
        <p:spPr>
          <a:xfrm xmlns:a="http://schemas.openxmlformats.org/drawingml/2006/main">
            <a:off x="685800" y="590550"/>
            <a:ext cx="1104900" cy="1104900"/>
          </a:xfrm>
          <a:prstGeom xmlns:a="http://schemas.openxmlformats.org/drawingml/2006/main" prst="roundRect">
            <a:avLst>
              <a:gd name="adj" fmla="val 2069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9DD06-29E6-4C98-97D4-0291758A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810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One trusted path to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local home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B4EE4-E222-4C2E-A771-E95D8F11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33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EBDD"/>
                </a:solidFill>
              </a:defRPr>
            </a:pPr>
            <a:r>
              <a:rPr sz="1875" b="0">
                <a:solidFill>
                  <a:srgbClr val="F4EBDD"/>
                </a:solidFill>
              </a:rPr>
              <a:t>Bilingual coordination for customers, service providers, and a growing local network.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04294-01C0-448A-B77F-2AFCF6CE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31EEF-42C8-41E2-874F-59AE0CC9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42F"/>
                </a:solidFill>
              </a:defRPr>
            </a:pPr>
            <a:r>
              <a:rPr sz="1350" b="1">
                <a:solidFill>
                  <a:srgbClr val="B8842F"/>
                </a:solidFill>
              </a:rPr>
              <a:t>CLEANFIXHARISH.CO.IL</a:t>
            </a:r>
          </a:p>
        </p:txBody>
      </p:sp>
    </p:spTree>
    <p:extLst>
      <p:ext uri="{BB962C8B-B14F-4D97-AF65-F5344CB8AC3E}">
        <p14:creationId xmlns:p14="http://schemas.microsoft.com/office/powerpoint/2010/main" val="492986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3980C-4013-43F9-BB41-9100C6BD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C96F3-57BE-4553-A2FD-9AFAC230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42F"/>
                </a:solidFill>
              </a:defRPr>
            </a:pPr>
            <a:r>
              <a:rPr sz="1200" b="1">
                <a:solidFill>
                  <a:srgbClr val="B8842F"/>
                </a:solidFill>
              </a:rPr>
              <a:t>THE LOCAL FRICTION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24F53-E826-47AA-B00D-F11E9B19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F28"/>
                </a:solidFill>
              </a:defRPr>
            </a:pPr>
            <a:r>
              <a:rPr sz="3150" b="1">
                <a:solidFill>
                  <a:srgbClr val="081F28"/>
                </a:solidFill>
              </a:rPr>
              <a:t>Small jobs create outsized effort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AA6AC-E567-41F4-8E7E-3863107A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F675F"/>
                </a:solidFill>
              </a:defRPr>
            </a:pPr>
            <a:r>
              <a:rPr sz="2025" b="0">
                <a:solidFill>
                  <a:srgbClr val="6F675F"/>
                </a:solidFill>
              </a:rPr>
              <a:t>Customers chase replies. Providers receive incomplete briefs. Everyone loses time resolving avoidable uncertainty.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B22F9-C1DE-455A-994C-66ED154E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42F"/>
                </a:solidFill>
              </a:defRPr>
            </a:pPr>
            <a:r>
              <a:rPr sz="1350" b="1">
                <a:solidFill>
                  <a:srgbClr val="B8842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07BD0-7146-4300-BD79-2B5D4374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290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F28"/>
                </a:solidFill>
              </a:defRPr>
            </a:pPr>
            <a:r>
              <a:rPr sz="1950" b="1">
                <a:solidFill>
                  <a:srgbClr val="081F28"/>
                </a:solidFill>
              </a:rPr>
              <a:t>Who is available?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F291C-7151-4928-B0C6-7776D271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42F"/>
                </a:solidFill>
              </a:defRPr>
            </a:pPr>
            <a:r>
              <a:rPr sz="1350" b="1">
                <a:solidFill>
                  <a:srgbClr val="B8842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A4657-CDCE-4838-9348-BFCF6890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2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F28"/>
                </a:solidFill>
              </a:defRPr>
            </a:pPr>
            <a:r>
              <a:rPr sz="1950" b="1">
                <a:solidFill>
                  <a:srgbClr val="081F28"/>
                </a:solidFill>
              </a:rPr>
              <a:t>What exactly is included?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A819D-F4C8-4EF1-A114-BBFCA5C7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42F"/>
                </a:solidFill>
              </a:defRPr>
            </a:pPr>
            <a:r>
              <a:rPr sz="1350" b="1">
                <a:solidFill>
                  <a:srgbClr val="B8842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6F858-6F18-454C-821A-105D4505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F28"/>
                </a:solidFill>
              </a:defRPr>
            </a:pPr>
            <a:r>
              <a:rPr sz="1950" b="1">
                <a:solidFill>
                  <a:srgbClr val="081F28"/>
                </a:solidFill>
              </a:rPr>
              <a:t>Who keeps the job moving?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7993e23224330"/>
          <a:srcRect xmlns:a="http://schemas.openxmlformats.org/drawingml/2006/main" l="30849" t="0" r="308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62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B36AA-96A7-4966-A00F-DC9C7A87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8b9d799e844a7"/>
          <a:srcRect xmlns:a="http://schemas.openxmlformats.org/drawingml/2006/main" l="19124" t="0" r="191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1F8F7-16A4-49CB-B017-915C01E9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F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321BE-5EE8-424D-983A-F20918BA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3820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 managed journey,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not a directory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10092-AF73-41EC-9401-D77B7F29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42F"/>
                </a:solidFill>
              </a:defRPr>
            </a:pPr>
            <a:r>
              <a:rPr sz="1200" b="1">
                <a:solidFill>
                  <a:srgbClr val="B8842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C4EDD-3C61-4B9E-9F39-385D3ACD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0C646-A6C8-47BF-8319-684953B9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194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42F"/>
                </a:solidFill>
              </a:defRPr>
            </a:pPr>
            <a:r>
              <a:rPr sz="1200" b="1">
                <a:solidFill>
                  <a:srgbClr val="B8842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95A01-8358-494E-A375-C71CBD10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Clarify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51288-D513-40DB-9927-B462DDF3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862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42F"/>
                </a:solidFill>
              </a:defRPr>
            </a:pPr>
            <a:r>
              <a:rPr sz="1200" b="1">
                <a:solidFill>
                  <a:srgbClr val="B8842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F6A60-63E3-4C64-8C1F-42FB40CA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0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688B4-1C1C-4802-83DE-E466150E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42F"/>
                </a:solidFill>
              </a:defRPr>
            </a:pPr>
            <a:r>
              <a:rPr sz="1200" b="1">
                <a:solidFill>
                  <a:srgbClr val="B8842F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13B24-D3CE-41AF-A1F4-3F738395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577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Coordinate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8CE55-9A94-43F3-969C-2B1B33E8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197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42F"/>
                </a:solidFill>
              </a:defRPr>
            </a:pPr>
            <a:r>
              <a:rPr sz="1200" b="1">
                <a:solidFill>
                  <a:srgbClr val="B8842F"/>
                </a:solidFill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1312B-585A-4E9C-9691-591D69C8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244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Close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CF394-AD30-4E15-968A-80BFA046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9626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D8BE"/>
                </a:solidFill>
              </a:defRPr>
            </a:pPr>
            <a:r>
              <a:rPr sz="1350" b="0">
                <a:solidFill>
                  <a:srgbClr val="E8D8BE"/>
                </a:solidFill>
              </a:rPr>
              <a:t>One accountable flow keeps scope, communication, and next steps visible.</a:t>
            </a:r>
          </a:p>
        </p:txBody>
      </p:sp>
    </p:spTree>
    <p:extLst>
      <p:ext uri="{BB962C8B-B14F-4D97-AF65-F5344CB8AC3E}">
        <p14:creationId xmlns:p14="http://schemas.microsoft.com/office/powerpoint/2010/main" val="1626867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0211C-AA3D-47F6-8A74-0CD7ADA0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8363B-F967-478D-950A-30782BEA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42F"/>
                </a:solidFill>
              </a:defRPr>
            </a:pPr>
            <a:r>
              <a:rPr sz="1200" b="1">
                <a:solidFill>
                  <a:srgbClr val="B8842F"/>
                </a:solidFill>
              </a:rPr>
              <a:t>VALUE FOR EVERY SIDE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A84C0-B745-45BE-AA0E-D4989FC6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F28"/>
                </a:solidFill>
              </a:defRPr>
            </a:pPr>
            <a:r>
              <a:rPr sz="3150" b="1">
                <a:solidFill>
                  <a:srgbClr val="081F28"/>
                </a:solidFill>
              </a:rPr>
              <a:t>Clarity improves the experience for everyone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254b5b2254c48"/>
          <a:srcRect xmlns:a="http://schemas.openxmlformats.org/drawingml/2006/main" l="14655" t="0" r="146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52650"/>
            <a:ext cx="4953000" cy="3943350"/>
          </a:xfrm>
          <a:prstGeom xmlns:a="http://schemas.openxmlformats.org/drawingml/2006/main" prst="roundRect">
            <a:avLst>
              <a:gd name="adj" fmla="val 579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C6C2B-DFDD-4192-AE44-0E559C6D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42F"/>
                </a:solidFill>
              </a:defRPr>
            </a:pPr>
            <a:r>
              <a:rPr sz="1350" b="1">
                <a:solidFill>
                  <a:srgbClr val="B8842F"/>
                </a:solidFill>
              </a:rPr>
              <a:t>CUSTOMERS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7EFBF-C59C-45CA-8D0F-094CCD4C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F28"/>
                </a:solidFill>
              </a:defRPr>
            </a:pPr>
            <a:r>
              <a:rPr sz="2025" b="1">
                <a:solidFill>
                  <a:srgbClr val="081F28"/>
                </a:solidFill>
              </a:rPr>
              <a:t>A simple request path, clearer expectations, and one place to follow progress.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949DA-7611-48A4-B86A-6FB0A6AC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62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42F"/>
                </a:solidFill>
              </a:defRPr>
            </a:pPr>
            <a:r>
              <a:rPr sz="1350" b="1">
                <a:solidFill>
                  <a:srgbClr val="B8842F"/>
                </a:solidFill>
              </a:rPr>
              <a:t>SERVICE PROVIDERS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56AF0-DACC-470C-96F2-8A20928D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624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F28"/>
                </a:solidFill>
              </a:defRPr>
            </a:pPr>
            <a:r>
              <a:rPr sz="2025" b="1">
                <a:solidFill>
                  <a:srgbClr val="081F28"/>
                </a:solidFill>
              </a:rPr>
              <a:t>Better briefs, fewer surprises, and work that is easier to prepare for.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306CD-B857-4614-A9E0-F0DAAD39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578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75F"/>
                </a:solidFill>
              </a:defRPr>
            </a:pPr>
            <a:r>
              <a:rPr sz="1500" b="0">
                <a:solidFill>
                  <a:srgbClr val="6F675F"/>
                </a:solidFill>
              </a:rPr>
              <a:t>CleanFixHarish coordinates the space between them.</a:t>
            </a:r>
          </a:p>
        </p:txBody>
      </p:sp>
    </p:spTree>
    <p:extLst>
      <p:ext uri="{BB962C8B-B14F-4D97-AF65-F5344CB8AC3E}">
        <p14:creationId xmlns:p14="http://schemas.microsoft.com/office/powerpoint/2010/main" val="13492696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68BBC-8CB4-40E3-93E2-CB74E505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Focused services create repeatable trust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8813363e84e4f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62100"/>
            <a:ext cx="2628900" cy="3505200"/>
          </a:xfrm>
          <a:prstGeom xmlns:a="http://schemas.openxmlformats.org/drawingml/2006/main" prst="roundRect">
            <a:avLst>
              <a:gd name="adj" fmla="val 8696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D0011-18C9-4D70-97AF-649718CB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842F"/>
                </a:solidFill>
              </a:defRPr>
            </a:pPr>
            <a:r>
              <a:rPr sz="1350" b="1">
                <a:solidFill>
                  <a:srgbClr val="B8842F"/>
                </a:solidFill>
              </a:rPr>
              <a:t>HANDYMAN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bdc796fe5449e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57575" y="1562100"/>
            <a:ext cx="2628900" cy="3505200"/>
          </a:xfrm>
          <a:prstGeom xmlns:a="http://schemas.openxmlformats.org/drawingml/2006/main" prst="roundRect">
            <a:avLst>
              <a:gd name="adj" fmla="val 869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35315-0FA4-49BC-8E9B-8A27C27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25780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842F"/>
                </a:solidFill>
              </a:defRPr>
            </a:pPr>
            <a:r>
              <a:rPr sz="1350" b="1">
                <a:solidFill>
                  <a:srgbClr val="B8842F"/>
                </a:solidFill>
              </a:rPr>
              <a:t>CLEANING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ffd11ecb640b3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562100"/>
            <a:ext cx="2628900" cy="3505200"/>
          </a:xfrm>
          <a:prstGeom xmlns:a="http://schemas.openxmlformats.org/drawingml/2006/main" prst="roundRect">
            <a:avLst>
              <a:gd name="adj" fmla="val 869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6BF9A-4571-4B2D-9C6B-2A3C04BD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5780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842F"/>
                </a:solidFill>
              </a:defRPr>
            </a:pPr>
            <a:r>
              <a:rPr sz="1350" b="1">
                <a:solidFill>
                  <a:srgbClr val="B8842F"/>
                </a:solidFill>
              </a:rPr>
              <a:t>AC CARE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7807b597d4391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67825" y="1562100"/>
            <a:ext cx="2628900" cy="3505200"/>
          </a:xfrm>
          <a:prstGeom xmlns:a="http://schemas.openxmlformats.org/drawingml/2006/main" prst="roundRect">
            <a:avLst>
              <a:gd name="adj" fmla="val 869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B5BD3-6E85-4216-AC21-9A0F67DD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25780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842F"/>
                </a:solidFill>
              </a:defRPr>
            </a:pPr>
            <a:r>
              <a:rPr sz="1350" b="1">
                <a:solidFill>
                  <a:srgbClr val="B8842F"/>
                </a:solidFill>
              </a:rPr>
              <a:t>MOVE-IN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000DA-4AF9-4C31-8434-6B1DF6D6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05500"/>
            <a:ext cx="941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8D8BE"/>
                </a:solidFill>
              </a:defRPr>
            </a:pPr>
            <a:r>
              <a:rPr sz="1575" b="0">
                <a:solidFill>
                  <a:srgbClr val="E8D8BE"/>
                </a:solidFill>
              </a:rPr>
              <a:t>Start with frequent, understandable home needs—then learn where coordination creates the most value.</a:t>
            </a:r>
          </a:p>
        </p:txBody>
      </p:sp>
    </p:spTree>
    <p:extLst>
      <p:ext uri="{BB962C8B-B14F-4D97-AF65-F5344CB8AC3E}">
        <p14:creationId xmlns:p14="http://schemas.microsoft.com/office/powerpoint/2010/main" val="15026229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37E5C-BB49-4117-A176-E3D59898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2ada06d734961"/>
          <a:srcRect xmlns:a="http://schemas.openxmlformats.org/drawingml/2006/main" l="19141" t="0" r="191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71D9A-AFC7-4370-8EF8-E321C3E3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EF5E3-B7A3-4357-8043-A180DE1A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286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42F"/>
                </a:solidFill>
              </a:defRPr>
            </a:pPr>
            <a:r>
              <a:rPr sz="1200" b="1">
                <a:solidFill>
                  <a:srgbClr val="B8842F"/>
                </a:solidFill>
              </a:rPr>
              <a:t>THE OPERATING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BEBC9-B45A-425D-A8AA-35EF74D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66800"/>
            <a:ext cx="3371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F28"/>
                </a:solidFill>
              </a:defRPr>
            </a:pPr>
            <a:r>
              <a:rPr sz="2850" b="1">
                <a:solidFill>
                  <a:srgbClr val="081F28"/>
                </a:solidFill>
              </a:rPr>
              <a:t>The platform turns requests into accountable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A6CCA-1879-421F-805E-FF331C29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76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CE553-7FEB-4FF3-AB3F-C01AC8D5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146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F28"/>
                </a:solidFill>
              </a:defRPr>
            </a:pPr>
            <a:r>
              <a:rPr sz="1500" b="1">
                <a:solidFill>
                  <a:srgbClr val="081F28"/>
                </a:solidFill>
              </a:rPr>
              <a:t>Bilingual customer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84EAF-2A12-40F3-8046-0478DF1A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FF7BA-D365-45C9-9A90-11D7DBEF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670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F28"/>
                </a:solidFill>
              </a:defRPr>
            </a:pPr>
            <a:r>
              <a:rPr sz="1500" b="1">
                <a:solidFill>
                  <a:srgbClr val="081F28"/>
                </a:solidFill>
              </a:rPr>
              <a:t>Admin visibility and follow-up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28383-DEA0-44FA-93FE-29B7230F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F2667-87DE-4423-8D23-B10EF3A6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95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1F28"/>
                </a:solidFill>
              </a:defRPr>
            </a:pPr>
            <a:r>
              <a:rPr sz="1500" b="0">
                <a:solidFill>
                  <a:srgbClr val="081F28"/>
                </a:solidFill>
              </a:rPr>
              <a:t>Quote and service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69015-0B58-4583-9ADC-6C190B85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33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44F69-0A92-4DCD-B0E5-A4BE2411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719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1F28"/>
                </a:solidFill>
              </a:defRPr>
            </a:pPr>
            <a:r>
              <a:rPr sz="1500" b="0">
                <a:solidFill>
                  <a:srgbClr val="081F28"/>
                </a:solidFill>
              </a:rPr>
              <a:t>Installable mobile 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A92B8-5DB5-4F01-98CE-81E9D099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00A4E-E65E-4E75-A5A2-1B92941A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24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1F28"/>
                </a:solidFill>
              </a:defRPr>
            </a:pPr>
            <a:r>
              <a:rPr sz="1500" b="0">
                <a:solidFill>
                  <a:srgbClr val="081F28"/>
                </a:solidFill>
              </a:rPr>
              <a:t>Brand and content controls</a:t>
            </a:r>
          </a:p>
        </p:txBody>
      </p:sp>
    </p:spTree>
    <p:extLst>
      <p:ext uri="{BB962C8B-B14F-4D97-AF65-F5344CB8AC3E}">
        <p14:creationId xmlns:p14="http://schemas.microsoft.com/office/powerpoint/2010/main" val="355432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23ED9-686E-4323-BCB3-ED64CED8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72AB0-7A39-4753-B410-A78EC1E2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42F"/>
                </a:solidFill>
              </a:defRPr>
            </a:pPr>
            <a:r>
              <a:rPr sz="1200" b="1">
                <a:solidFill>
                  <a:srgbClr val="B8842F"/>
                </a:solidFill>
              </a:rPr>
              <a:t>THE GROWTH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AE26E-BEA5-471B-8D83-B5E713D3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F28"/>
                </a:solidFill>
              </a:defRPr>
            </a:pPr>
            <a:r>
              <a:rPr sz="3150" b="1">
                <a:solidFill>
                  <a:srgbClr val="081F28"/>
                </a:solidFill>
              </a:rPr>
              <a:t>Every useful interaction can strengthen local discovery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A74EA-473D-4472-96D0-0758FA4F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F28"/>
                </a:solidFill>
              </a:defRPr>
            </a:pPr>
            <a:r>
              <a:rPr sz="1950" b="1">
                <a:solidFill>
                  <a:srgbClr val="081F28"/>
                </a:solidFill>
              </a:rPr>
              <a:t>Helpful bilingual content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B7F7B-28F7-43FD-A1BB-E4C88CA9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75F"/>
                </a:solidFill>
              </a:defRPr>
            </a:pPr>
            <a:r>
              <a:rPr sz="1500" b="0">
                <a:solidFill>
                  <a:srgbClr val="6F675F"/>
                </a:solidFill>
              </a:rPr>
              <a:t>Answers real local questions and earns search visibility.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84513-8786-4CDF-A89D-E287E32E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F28"/>
                </a:solidFill>
              </a:defRPr>
            </a:pPr>
            <a:r>
              <a:rPr sz="1950" b="1">
                <a:solidFill>
                  <a:srgbClr val="081F28"/>
                </a:solidFill>
              </a:rPr>
              <a:t>Recognizable campaigns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28F76-F98F-4D4E-9109-F1375DD0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75F"/>
                </a:solidFill>
              </a:defRPr>
            </a:pPr>
            <a:r>
              <a:rPr sz="1500" b="0">
                <a:solidFill>
                  <a:srgbClr val="6F675F"/>
                </a:solidFill>
              </a:rPr>
              <a:t>One visual identity across social, groups, flyers, and referrals.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5B8E5-F5DD-4581-9440-53DF6D64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F28"/>
                </a:solidFill>
              </a:defRPr>
            </a:pPr>
            <a:r>
              <a:rPr sz="1950" b="1">
                <a:solidFill>
                  <a:srgbClr val="081F28"/>
                </a:solidFill>
              </a:rPr>
              <a:t>Measurable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2B9B4-574A-4E09-BA83-DE682385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75F"/>
                </a:solidFill>
              </a:defRPr>
            </a:pPr>
            <a:r>
              <a:rPr sz="1500" b="0">
                <a:solidFill>
                  <a:srgbClr val="6F675F"/>
                </a:solidFill>
              </a:rPr>
              <a:t>Trackable links and scan-safe QR assets connect attention to action.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43cafa1da47e8"/>
          <a:stretch xmlns:a="http://schemas.openxmlformats.org/drawingml/2006/main"/>
        </p:blipFill>
        <p:spPr>
          <a:xfrm xmlns:a="http://schemas.openxmlformats.org/drawingml/2006/main">
            <a:off x="7239000" y="1428750"/>
            <a:ext cx="4191000" cy="41910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</p:spTree>
    <p:extLst>
      <p:ext uri="{BB962C8B-B14F-4D97-AF65-F5344CB8AC3E}">
        <p14:creationId xmlns:p14="http://schemas.microsoft.com/office/powerpoint/2010/main" val="1074735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78c8e33594a3f"/>
          <a:stretch xmlns:a="http://schemas.openxmlformats.org/drawingml/2006/main"/>
        </p:blipFill>
        <p:spPr>
          <a:xfrm xmlns:a="http://schemas.openxmlformats.org/drawingml/2006/main">
            <a:off x="781050" y="666750"/>
            <a:ext cx="1428750" cy="1428750"/>
          </a:xfrm>
          <a:prstGeom xmlns:a="http://schemas.openxmlformats.org/drawingml/2006/main" prst="roundRect">
            <a:avLst>
              <a:gd name="adj" fmla="val 16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6F0EE-DE4B-4489-9D53-68713671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Build local trust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into a repeatable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D4A1A-9A34-464F-A561-5DF12451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D8BE"/>
                </a:solidFill>
              </a:defRPr>
            </a:pPr>
            <a:r>
              <a:rPr sz="1800" b="0">
                <a:solidFill>
                  <a:srgbClr val="E8D8BE"/>
                </a:solidFill>
              </a:rPr>
              <a:t>CleanFixHarish combines a clear customer journey, provider-ready briefs, bilingual operations, and a distinctive local brand.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69E3B-E9FD-42A5-8E56-CA3E23A9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D282A-05BF-42E2-B086-8D2DFF58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42F"/>
                </a:solidFill>
              </a:defRPr>
            </a:pPr>
            <a:r>
              <a:rPr sz="1350" b="1">
                <a:solidFill>
                  <a:srgbClr val="B8842F"/>
                </a:solidFill>
              </a:rPr>
              <a:t>Explore the live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fc03a52a14b08"/>
          <a:stretch xmlns:a="http://schemas.openxmlformats.org/drawingml/2006/main"/>
        </p:blipFill>
        <p:spPr>
          <a:xfrm xmlns:a="http://schemas.openxmlformats.org/drawingml/2006/main">
            <a:off x="7791450" y="1714500"/>
            <a:ext cx="3429000" cy="34290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</p:spTree>
    <p:extLst>
      <p:ext uri="{BB962C8B-B14F-4D97-AF65-F5344CB8AC3E}">
        <p14:creationId xmlns:p14="http://schemas.microsoft.com/office/powerpoint/2010/main" val="1411226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2026-08-22T21:55:14.9570000Z</dcterms:created>
  <dcterms:modified xsi:type="dcterms:W3CDTF">2026-08-22T21:55:14.9570000Z</dcterms:modified>
</coreProperties>
</file>